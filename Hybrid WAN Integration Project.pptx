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10" Type="http://schemas.openxmlformats.org/officeDocument/2006/relationships/image" Target="../media/image16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76" y="1976437"/>
            <a:ext cx="115814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OSPF/EIGRP 라우팅 재분배 및 HSRP 이중화를 통한 하이브리드 WAN 통합 프로젝트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81025" y="3586162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11-Router 시뮬레이션: 재분배, 멀티 에어리어, NAT, HSRP 구현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40531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[발표자 이름]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090612"/>
            <a:ext cx="53244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90612"/>
            <a:ext cx="53244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33862"/>
            <a:ext cx="532447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33862"/>
            <a:ext cx="53244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558051" y="2100262"/>
            <a:ext cx="337042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핵심 목표 1: 라우팅 통합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28717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R3(ASBR)에서 OSPF와 EIGRP 간의 양방향 재분배를 구현합니다.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588567" y="2100262"/>
            <a:ext cx="2720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핵심 목표 2: 확장성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28717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R2(ABR)를 통해 OSPF 백본(Area 0)과 지사(Area 1)를 분리합니다.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718071" y="5243512"/>
            <a:ext cx="30503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핵심 목표 3: 고가용성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85875" y="6015037"/>
            <a:ext cx="391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L3_Switch_8/6에서 HSRP 로드 밸런싱을 구현합니다.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568565" y="5243512"/>
            <a:ext cx="2760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핵심 목표 4: 인터넷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43687" y="6015037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R4(NAT GW)를 통해 모든 내부망의 인터넷 접속을 제어합니다.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4662" y="1404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1562" y="14049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14662" y="4548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20137" y="4548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81025" y="119062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4대 핵심 아키텍처 목표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71650"/>
            <a:ext cx="52768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1771650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프로젝트 배경 및 아키텍처 목표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2400300"/>
            <a:ext cx="5276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본 프로젝트는 M&amp;A(인수합병) 등으로 인해 서로 다른 라우팅 프로토콜(OSPF/EIGRP)을 사용하는 기업 네트워크를 통합하는 시나리오를 시뮬레이션합니다.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6275" y="3362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3362325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OSPF Area 0 (Backbone):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R0, R1, R2, R3, R4가 코어 메시를 구성합니다.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6275" y="40195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4019550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EIGRP AS 100: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R5, R7, R9가 R3(ASBR)를 허브로 사용합니다.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6275" y="4419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4419600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OSPF Area 1 (Branch):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L3_Switch_8, L3_Switch_6가 R2(ABR)를 통해 백본에 연결됩니다.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781175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📍 3-Domain 아키텍처 토폴로지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28762"/>
            <a:ext cx="527685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28762"/>
            <a:ext cx="527685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71550" y="1919287"/>
            <a:ext cx="4720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R3 (ASBR): OSPF ↔ EIGRP 재분배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71550" y="3005137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OSPF와 EIGRP 간의 양방향 재분배를 수행합니다.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71550" y="3452812"/>
            <a:ext cx="4720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R2 (ABR): Area 0 ↔ Area 1 연결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71550" y="4538662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초기 stub 설정 시 EIGRP 외부 경로(O E2)가 차단되는 문제를 해결했습니다.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71550" y="5224462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[해결]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Area 1을 "Normal Area"로 변경하여 모든 경로(E2 포함) 학습을 허용했습니다.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557212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🔄 라우팅 프로토콜 연동: ASBR &amp; ABR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2190750" y="26670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게이트웨이 (R4):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ISP_Router(200.0.0.1)로 향하는 Static Route 설정.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190750" y="3114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기본 경로 전파: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OSPF 프로세스에서 `default-information originate`를 사용하여 O*E2 (0.0.0.0/0) 경로를 백본(Area 0)으로 전파.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190750" y="38195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NAT (PAT):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`ip nat inside source list ACL_FOR_NAT interface Gi0/2.200 overload` 사용.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190750" y="426720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ACL 수정 (중요):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초기 `permit ip 10.0.0.0...` ACL이 OSPF 코어망까지 NAT 변환하여 라우팅 충돌 발생.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190750" y="47148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해결: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192.168.x.x (LAN) 및 10.3.0.0 (EIGRP Transit)만 변환하도록 ACL을 수정하여 문제 해결.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7146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62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671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14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625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🌐 인터넷 게이트웨이: NAT 및 기본 경로 전파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581025" y="1943100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L3_Switch_8(Active)과 L3_Switch_6(Standby)가 OSPF Area 1 지사의 게이트웨이 역할 수행.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6275" y="26479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2647950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SVI (Switch Virtual Interface):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VLAN 80 (Staff)과 VLAN 81 (Guest)의 게이트웨이(IP)를 SVI에 설정.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6275" y="33051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71525" y="3305175"/>
            <a:ext cx="508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Load Balancing (교차 설정):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1781175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6343650" y="6181725"/>
            <a:ext cx="5257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show standby brief 출력 결과 (VLAN 80)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35623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57275" y="356235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VLAN 80: R8(Active, Pri 150), R6(Standby)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396240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057275" y="396240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VLAN 81: R6(Active, Pri 150), R8(Standby)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🛡️ HSRP 게이트웨이 이중화 및 Load Balancing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2190750" y="27622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L3 계층 구조: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Switch12 (Distribution)와 Switch5/Switch6 (Access) 간에 3계층 LAN 구조를 구현.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2190750" y="320992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[오류] Native VLAN Mismatch: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HSRP Standby 'unknown' (스플릿 브레인) 오류의 주된 원인.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2190750" y="36576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[해결] VLAN 통일: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Switch12, S5, S6 및 R8/R6의 모든 트렁크 포트에서 Native VLAN 999 (Dummy VLAN)로 통일하여 해결.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2190750" y="43624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STP 최적화: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Switch12 (분배 스위치)가 Root Bridge가 되도록 `spanning-tree vlan 80,81 priority 0` 명령어로 STP Priority를 강제 조정.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8098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575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052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100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🚦 L2 안정화: Trunking 및 Spanning Tree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52650"/>
            <a:ext cx="52768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2650"/>
            <a:ext cx="527685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971550" y="2543175"/>
            <a:ext cx="4720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요구사항: Guest (VLAN 81) 격리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71550" y="3629025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구현: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SVI 인바운드 ACL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71550" y="4057650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L3_Switch_8/6의 `interface Vlan81`에 적용.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066800" y="4486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162050" y="4486275"/>
            <a:ext cx="4305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허용: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인터넷 (8.8.8.8)만 허용.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66800" y="4886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162050" y="4886325"/>
            <a:ext cx="4305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차단: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모든 내부망(VLAN 80, OSPF Core, EIGRP) 접근 차단.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🔒 보안 정책: ACL을 통한 Guest VLAN 격리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581025" y="1943100"/>
            <a:ext cx="527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모든 도메인 간 및 인터넷으로의 E2E 연결성 확인: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6275" y="23907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71525" y="2390775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EIGRP → OSPF Area 0: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`ping 192.168.5.10 → 192.168.0.10` (성공)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6275" y="30480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771525" y="3048000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EIGRP → OSPF Area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`ping 192.168.5.10 → 192.168.8.10` (성공)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6275" y="37052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71525" y="3705225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EIGRP → Internet (NAT):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`ping 192.168.5.10 → 8.8.8.8` (성공)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6275" y="43624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71525" y="4362450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OSPF Area 1 → Internet (NAT):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`ping 192.168.8.10 → 8.8.8.8` (성공)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1781175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6343650" y="6181725"/>
            <a:ext cx="5257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EIGRP (PC5)에서 인터넷 (8.8.8.8) 핑 테스트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✅ 최종 시스템 검증: End-to-End Ping Test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2190750" y="2633662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이기종 프로토콜(OSPF/EIGRP) 통합 시, ASBR(R3)에서의 정확한 재분배 및 경로 필터링이 핵심입니다.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2190750" y="30813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OSPF Stub/NSSA Area는 라우팅 테이블을 단순화하지만, 외부 경로(E2) 학습 여부에 따라 신중한 설계가 필요합니다.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2190750" y="378618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Packet Tracer에서 HSRP 구현 시, L2/L3 스위치 모듈의 한계(VTP/SVI 미지원)를 인지하고 L3 스위치(SVI)로 대체하는 것이 안정적입니다.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2190750" y="4491037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Native VLAN 불일치는 HSRP Hello 패킷 드롭을 유발하여 "스플릿 브레인"을 일으키는 주된 원인임을 확인했습니다.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6812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289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33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866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🏁 결론 및 핵심 학습 포인트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